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yourself, the project (VAPT on DVWA), and the two tools used: Burp Suite and OWASP ZAP.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 = breadth via automated scanners (ZAP). PT = depth via manual exploitation (Burp). A full VAPT engagement uses both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categories were chosen because they are the most common and highest-impact vulnerabilities found in real-world web apps, and DVWA has a dedicated module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Burp for manual/interactive testing, ZAP for automated scanning, DVWA as the deliberately vulnerable target, XAMPP/Docker to host it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screenshots show the actual payload tested (a single quote-equals-quote) and the raw SQL error it produced — evidence that user input reaches the query unsanitized. Burp captured the full request/response, shown in the written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alerts shown are real, captured live on DVWA. Reflected XSS needs a victim to click a crafted link; stored XSS persists and hits every viewer automatically, which is why it's rated more severe.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classes were confirmed by manual review rather than payload injection — checking configuration and behavior rather than exploiting an input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four-stage ZAP workflow, then show the live scan screenshot and the session management alert — the same PHPSESSID weakness discussed on the Broken Authentication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confirmed findings across four OWASP categories, with two rated Critical due to direct data exposure.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core lesson: neither tool alone is sufficient — combining automated and manual testing is what makes a VAPT engagement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72B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1E2749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4754880"/>
            <a:ext cx="2743200" cy="2743200"/>
          </a:xfrm>
          <a:prstGeom prst="ellipse">
            <a:avLst/>
          </a:prstGeom>
          <a:solidFill>
            <a:srgbClr val="1E274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VAPT BASICS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Security &amp; Vulnerability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(VAPT)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DVWA using Burp Suite and OWASP ZAP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Khushveer  |  Cybersecurity Internship  |  14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VAPT?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54864"/>
          </a:xfrm>
          <a:prstGeom prst="rect">
            <a:avLst/>
          </a:prstGeom>
          <a:solidFill>
            <a:srgbClr val="C81D3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5362956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83464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Assessment (VA)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74720"/>
            <a:ext cx="48143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Broad, automated discovery of possible weaknesses.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8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“What could be wrong?”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77356" y="1737360"/>
            <a:ext cx="5362956" cy="4206240"/>
          </a:xfrm>
          <a:prstGeom prst="roundRect">
            <a:avLst>
              <a:gd name="adj" fmla="val 2174"/>
            </a:avLst>
          </a:prstGeom>
          <a:solidFill>
            <a:srgbClr val="12172B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20574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51676" y="283464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Penetration Testing (PT)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551676" y="3474720"/>
            <a:ext cx="48143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active exploitation to prove real-world impact.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“Can it actually be broken?”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Vulnerabilities Covered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OWASP Top 10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31520" cy="731520"/>
          </a:xfrm>
          <a:prstGeom prst="ellipse">
            <a:avLst/>
          </a:prstGeom>
          <a:solidFill>
            <a:srgbClr val="1E274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9385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103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SQL manipulates backend queries to leak or alter data.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731520" cy="731520"/>
          </a:xfrm>
          <a:prstGeom prst="ellipse">
            <a:avLst/>
          </a:prstGeom>
          <a:solidFill>
            <a:srgbClr val="1E274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12724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2880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Cross-Site Scripting (XSS)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3291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scripts execute in a victim's browser — reflected or stored.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160520"/>
            <a:ext cx="731520" cy="731520"/>
          </a:xfrm>
          <a:prstGeom prst="ellipse">
            <a:avLst/>
          </a:prstGeom>
          <a:solidFill>
            <a:srgbClr val="1E274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31596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Authentication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645920" y="4480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session/credential handling allows account takeover.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349240"/>
            <a:ext cx="731520" cy="731520"/>
          </a:xfrm>
          <a:prstGeom prst="ellipse">
            <a:avLst/>
          </a:prstGeom>
          <a:solidFill>
            <a:srgbClr val="1E274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550468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45920" y="5257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Misconfiguration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645920" y="5669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defaults, verbose errors, and unpatched software.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040880" y="1691640"/>
            <a:ext cx="18288" cy="4572000"/>
          </a:xfrm>
          <a:prstGeom prst="rect">
            <a:avLst/>
          </a:prstGeom>
          <a:solidFill>
            <a:srgbClr val="1E2749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406640" y="22860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1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A03</a:t>
            </a:r>
            <a:endParaRPr lang="en-US" sz="60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33832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is the common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behind SQLi &amp; XSS 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exploited class in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breaches.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54864"/>
          </a:xfrm>
          <a:prstGeom prst="rect">
            <a:avLst/>
          </a:prstGeom>
          <a:solidFill>
            <a:srgbClr val="C81D3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20240"/>
            <a:ext cx="2498598" cy="384048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6459" y="2286000"/>
            <a:ext cx="822960" cy="822960"/>
          </a:xfrm>
          <a:prstGeom prst="ellipse">
            <a:avLst/>
          </a:prstGeom>
          <a:solidFill>
            <a:srgbClr val="1217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627" y="2487168"/>
            <a:ext cx="420624" cy="4206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337560"/>
            <a:ext cx="2224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Burp Suite 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931920"/>
            <a:ext cx="21328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Intercepting proxy to capture, inspect and replay HTTP requests/responses.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2998" y="1920240"/>
            <a:ext cx="2498598" cy="384048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0817" y="2286000"/>
            <a:ext cx="822960" cy="822960"/>
          </a:xfrm>
          <a:prstGeom prst="ellipse">
            <a:avLst/>
          </a:prstGeom>
          <a:solidFill>
            <a:srgbClr val="1217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985" y="248716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50158" y="3337560"/>
            <a:ext cx="2224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ZAP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95878" y="3931920"/>
            <a:ext cx="21328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scanner — spiders the app then actively tests every parameter.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7356" y="1920240"/>
            <a:ext cx="2498598" cy="384048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15175" y="2286000"/>
            <a:ext cx="822960" cy="822960"/>
          </a:xfrm>
          <a:prstGeom prst="ellipse">
            <a:avLst/>
          </a:prstGeom>
          <a:solidFill>
            <a:srgbClr val="1217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343" y="248716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14516" y="3337560"/>
            <a:ext cx="2224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DVWA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60236" y="3931920"/>
            <a:ext cx="21328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vulnerable PHP/MySQL app used as the test target.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41714" y="1920240"/>
            <a:ext cx="2498598" cy="384048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79533" y="2286000"/>
            <a:ext cx="822960" cy="822960"/>
          </a:xfrm>
          <a:prstGeom prst="ellipse">
            <a:avLst/>
          </a:prstGeom>
          <a:solidFill>
            <a:srgbClr val="12172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701" y="248716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78874" y="3337560"/>
            <a:ext cx="2224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XAMPP / Docker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324594" y="3931920"/>
            <a:ext cx="21328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server stack used to host and run DVWA.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17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1371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— SQL Injection module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7432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an unescaped quote into the User ID field broke the backend query and returned a raw database error — confirming the input reaches SQL unsanitized.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3035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E8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live in Burp Suite Proxy — see full request/response in the project report.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4572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 Tested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0" y="914400"/>
            <a:ext cx="6949440" cy="594360"/>
          </a:xfrm>
          <a:prstGeom prst="roundRect">
            <a:avLst>
              <a:gd name="adj" fmla="val 9231"/>
            </a:avLst>
          </a:prstGeom>
          <a:solidFill>
            <a:srgbClr val="1E1E1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00600" y="102412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'1'='1'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1737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Evidence</a:t>
            </a:r>
            <a:endParaRPr lang="en-US" sz="1500" dirty="0"/>
          </a:p>
        </p:txBody>
      </p:sp>
      <p:pic>
        <p:nvPicPr>
          <p:cNvPr id="12" name="Image 1" descr="/mnt/user-data/uploads/IMG_8436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48840"/>
            <a:ext cx="3291840" cy="1329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3524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entered in DVWA</a:t>
            </a:r>
            <a:endParaRPr lang="en-US" sz="1050" dirty="0"/>
          </a:p>
        </p:txBody>
      </p:sp>
      <p:pic>
        <p:nvPicPr>
          <p:cNvPr id="14" name="Image 2" descr="/mnt/user-data/uploads/IMG_8427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148840"/>
            <a:ext cx="3291840" cy="90095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138160" y="309551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SQL error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49377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the error discloses the MariaDB backend and echoes the broken query fragment — enough for an attacker to iteratively craft a working UNION-based injection to extract data.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Cross-Site Scripting (XSS)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548640" cy="54864"/>
          </a:xfrm>
          <a:prstGeom prst="rect">
            <a:avLst/>
          </a:prstGeom>
          <a:solidFill>
            <a:srgbClr val="C81D3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17236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5317236" cy="109728"/>
          </a:xfrm>
          <a:prstGeom prst="rect">
            <a:avLst/>
          </a:prstGeom>
          <a:solidFill>
            <a:srgbClr val="E0A5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45920"/>
            <a:ext cx="4677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Reflected XSS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4677156" cy="45720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176272"/>
            <a:ext cx="44028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&lt;script&gt;alert('reflect')&lt;/script&gt;</a:t>
            </a:r>
            <a:endParaRPr lang="en-US" sz="1050" dirty="0"/>
          </a:p>
        </p:txBody>
      </p:sp>
      <p:pic>
        <p:nvPicPr>
          <p:cNvPr id="9" name="Image 0" descr="/mnt/user-data/uploads/IMG_843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587" y="2697480"/>
            <a:ext cx="3637342" cy="23317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5120640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 immediately — payload is echoed back, not stored. Affects only the request that carries it (e.g. a crafted link).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598932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High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23076" y="1417320"/>
            <a:ext cx="5317236" cy="4937760"/>
          </a:xfrm>
          <a:prstGeom prst="roundRect">
            <a:avLst>
              <a:gd name="adj" fmla="val 1852"/>
            </a:avLst>
          </a:prstGeom>
          <a:solidFill>
            <a:srgbClr val="12172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23076" y="1417320"/>
            <a:ext cx="5317236" cy="109728"/>
          </a:xfrm>
          <a:prstGeom prst="rect">
            <a:avLst/>
          </a:prstGeom>
          <a:solidFill>
            <a:srgbClr val="C81D3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43116" y="1645920"/>
            <a:ext cx="4677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 XSS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643116" y="2103120"/>
            <a:ext cx="4677156" cy="457200"/>
          </a:xfrm>
          <a:prstGeom prst="roundRect">
            <a:avLst>
              <a:gd name="adj" fmla="val 10000"/>
            </a:avLst>
          </a:prstGeom>
          <a:solidFill>
            <a:srgbClr val="0B0E1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780276" y="2176272"/>
            <a:ext cx="44028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&lt;script&gt;alert('XSS')&lt;/script&gt;</a:t>
            </a:r>
            <a:endParaRPr lang="en-US" sz="1050" dirty="0"/>
          </a:p>
        </p:txBody>
      </p:sp>
      <p:pic>
        <p:nvPicPr>
          <p:cNvPr id="17" name="Image 1" descr="/mnt/user-data/uploads/IMG_8438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288" y="2697480"/>
            <a:ext cx="3790811" cy="23317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643116" y="5120640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 automatically on page load — payload is persisted in the guestbook database and hits every visitor.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6643116" y="598932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Critical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Authentication &amp; Misconfiguration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54864"/>
          </a:xfrm>
          <a:prstGeom prst="rect">
            <a:avLst/>
          </a:prstGeom>
          <a:solidFill>
            <a:srgbClr val="C81D3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600200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Authentication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109728" cy="109728"/>
          </a:xfrm>
          <a:prstGeom prst="ellipse">
            <a:avLst/>
          </a:prstGeom>
          <a:solidFill>
            <a:srgbClr val="C81D3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214884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lockout after repeated failed logins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109728" cy="109728"/>
          </a:xfrm>
          <a:prstGeom prst="ellipse">
            <a:avLst/>
          </a:prstGeom>
          <a:solidFill>
            <a:srgbClr val="C81D3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83464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/ long-lived session tokens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657600"/>
            <a:ext cx="109728" cy="109728"/>
          </a:xfrm>
          <a:prstGeom prst="ellipse">
            <a:avLst/>
          </a:prstGeom>
          <a:solidFill>
            <a:srgbClr val="C81D3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352044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IDs not protected with HttpOnly / Secure flags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15544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63156" y="1600200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Misconfiguration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414516" y="2286000"/>
            <a:ext cx="109728" cy="109728"/>
          </a:xfrm>
          <a:prstGeom prst="ellipse">
            <a:avLst/>
          </a:prstGeom>
          <a:solidFill>
            <a:srgbClr val="C81D3E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688836" y="214884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credentials left active (admin/password)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14516" y="2971800"/>
            <a:ext cx="109728" cy="109728"/>
          </a:xfrm>
          <a:prstGeom prst="ellipse">
            <a:avLst/>
          </a:prstGeom>
          <a:solidFill>
            <a:srgbClr val="C81D3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688836" y="283464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PHP errors reveal stack traces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14516" y="3657600"/>
            <a:ext cx="109728" cy="109728"/>
          </a:xfrm>
          <a:prstGeom prst="ellipse">
            <a:avLst/>
          </a:prstGeom>
          <a:solidFill>
            <a:srgbClr val="C81D3E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688836" y="352044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security headers (CSP, X-Frame-Options)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4754880"/>
            <a:ext cx="11091672" cy="18288"/>
          </a:xfrm>
          <a:prstGeom prst="rect">
            <a:avLst/>
          </a:prstGeom>
          <a:solidFill>
            <a:srgbClr val="1E274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48640" y="5029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via DVWA's Brute Force module, login page, and manual review of HTTP response headers.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Scanning with OWASP ZAP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54864"/>
          </a:xfrm>
          <a:prstGeom prst="rect">
            <a:avLst/>
          </a:prstGeom>
          <a:solidFill>
            <a:srgbClr val="C81D3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256717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4416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56232"/>
            <a:ext cx="220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Spider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21992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every reachable page &amp; parameter.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90138" y="1234440"/>
            <a:ext cx="256717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73018" y="134416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573018" y="1856232"/>
            <a:ext cx="220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Scan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73018" y="2221992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test payloads automatically.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1636" y="1234440"/>
            <a:ext cx="256717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14516" y="134416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14516" y="1856232"/>
            <a:ext cx="220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14516" y="2221992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findings ranked by risk level.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73134" y="1234440"/>
            <a:ext cx="256717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56014" y="134416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256014" y="1856232"/>
            <a:ext cx="220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56014" y="2221992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results saved for the report.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Scan Evidence</a:t>
            </a:r>
            <a:endParaRPr lang="en-US" sz="1500" dirty="0"/>
          </a:p>
        </p:txBody>
      </p:sp>
      <p:pic>
        <p:nvPicPr>
          <p:cNvPr id="21" name="Image 0" descr="/mnt/user-data/uploads/IMG_843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566160"/>
            <a:ext cx="4775514" cy="28803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48640" y="6492240"/>
            <a:ext cx="4775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 Quick Start — attack complete, 12 alerts raised</a:t>
            </a:r>
            <a:endParaRPr lang="en-US" sz="1000" dirty="0"/>
          </a:p>
        </p:txBody>
      </p:sp>
      <p:pic>
        <p:nvPicPr>
          <p:cNvPr id="23" name="Image 1" descr="/mnt/user-data/uploads/IMG_8429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914" y="3566160"/>
            <a:ext cx="4663440" cy="106467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689914" y="46765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Response Identified — PHPSESSID flagged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5689914" y="6126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12 alerts raised, corroborating the manually-confirmed SQLi finding and cross-validating the session-handling weakness noted under Broken Authentication.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C81D3E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286000"/>
                <a:gridCol w="286207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 (Error-based)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A03: Injection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XSS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A03: Injection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Mgmt Weakness (PHPSESSID)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5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A07: Auth Failures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Reflected XSS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A03: Injection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Authentication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A07: Auth Failures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Misconfiguration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5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A05: Misconfiguration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Security Headers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A05: Misconfiguration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&amp; 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54864"/>
          </a:xfrm>
          <a:prstGeom prst="rect">
            <a:avLst/>
          </a:prstGeom>
          <a:solidFill>
            <a:srgbClr val="C81D3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91640"/>
            <a:ext cx="2567178" cy="2651760"/>
          </a:xfrm>
          <a:prstGeom prst="roundRect">
            <a:avLst>
              <a:gd name="adj" fmla="val 2850"/>
            </a:avLst>
          </a:prstGeom>
          <a:solidFill>
            <a:srgbClr val="1E274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6197" y="1965960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606040"/>
            <a:ext cx="229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63240"/>
            <a:ext cx="220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+ least-privilege DB accounts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90138" y="1691640"/>
            <a:ext cx="2567178" cy="2651760"/>
          </a:xfrm>
          <a:prstGeom prst="roundRect">
            <a:avLst>
              <a:gd name="adj" fmla="val 2850"/>
            </a:avLst>
          </a:prstGeom>
          <a:solidFill>
            <a:srgbClr val="1E274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695" y="1965960"/>
            <a:ext cx="512064" cy="5120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27298" y="2606040"/>
            <a:ext cx="229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XSS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573018" y="3063240"/>
            <a:ext cx="220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encoding + Content Security Policy + HttpOnly cookies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31636" y="1691640"/>
            <a:ext cx="2567178" cy="2651760"/>
          </a:xfrm>
          <a:prstGeom prst="roundRect">
            <a:avLst>
              <a:gd name="adj" fmla="val 2850"/>
            </a:avLst>
          </a:prstGeom>
          <a:solidFill>
            <a:srgbClr val="1E274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193" y="1965960"/>
            <a:ext cx="512064" cy="5120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68796" y="2606040"/>
            <a:ext cx="229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6414516" y="3063240"/>
            <a:ext cx="220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account lockout, secure session token rotation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073134" y="1691640"/>
            <a:ext cx="2567178" cy="2651760"/>
          </a:xfrm>
          <a:prstGeom prst="roundRect">
            <a:avLst>
              <a:gd name="adj" fmla="val 2850"/>
            </a:avLst>
          </a:prstGeom>
          <a:solidFill>
            <a:srgbClr val="1E274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691" y="1965960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210294" y="2606040"/>
            <a:ext cx="229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Misconfig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9256014" y="3063240"/>
            <a:ext cx="220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systems, disable verbose errors, set security headers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572000"/>
            <a:ext cx="11091672" cy="18288"/>
          </a:xfrm>
          <a:prstGeom prst="rect">
            <a:avLst/>
          </a:prstGeom>
          <a:solidFill>
            <a:srgbClr val="1E2749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548640" y="4846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85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testing (Burp) finds depth; automated scanning (ZAP) finds breadth — a complete VAPT process needs both.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Khushveer  |  Full report, screenshots, and ZAP export available in the project repository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2026-09-13T10:15:13Z</dcterms:created>
  <dcterms:modified xsi:type="dcterms:W3CDTF">2026-09-13T10:15:13Z</dcterms:modified>
</cp:coreProperties>
</file>